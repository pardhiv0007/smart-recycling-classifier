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6" r:id="rId3"/>
    <p:sldId id="257" r:id="rId4"/>
    <p:sldId id="258" r:id="rId5"/>
    <p:sldId id="259" r:id="rId6"/>
    <p:sldId id="260" r:id="rId7"/>
    <p:sldId id="261" r:id="rId8"/>
    <p:sldId id="262" r:id="rId9"/>
    <p:sldId id="263" r:id="rId10"/>
    <p:sldId id="264" r:id="rId11"/>
    <p:sldId id="267" r:id="rId12"/>
    <p:sldId id="265"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1681C7-61EC-4230-BFE5-0130F2E380AC}" v="4" dt="2026-02-20T04:53:39.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napToObjects="1">
      <p:cViewPr varScale="1">
        <p:scale>
          <a:sx n="117" d="100"/>
          <a:sy n="117" d="100"/>
        </p:scale>
        <p:origin x="75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𝐒𝐄𝐒𝐇𝐔 𝐂𝐇𝐎𝐖𝐃𝐀𝐑𝐘⚡" userId="a10a34972927bf5d" providerId="LiveId" clId="{B3DB9985-BEAF-4939-A3B8-BEBEB4A7E6CE}"/>
    <pc:docChg chg="custSel modSld">
      <pc:chgData name="𝐒𝐄𝐒𝐇𝐔 𝐂𝐇𝐎𝐖𝐃𝐀𝐑𝐘⚡" userId="a10a34972927bf5d" providerId="LiveId" clId="{B3DB9985-BEAF-4939-A3B8-BEBEB4A7E6CE}" dt="2026-02-20T04:54:35.529" v="86" actId="1076"/>
      <pc:docMkLst>
        <pc:docMk/>
      </pc:docMkLst>
      <pc:sldChg chg="addSp delSp modSp mod">
        <pc:chgData name="𝐒𝐄𝐒𝐇𝐔 𝐂𝐇𝐎𝐖𝐃𝐀𝐑𝐘⚡" userId="a10a34972927bf5d" providerId="LiveId" clId="{B3DB9985-BEAF-4939-A3B8-BEBEB4A7E6CE}" dt="2026-02-20T04:54:35.529" v="86" actId="1076"/>
        <pc:sldMkLst>
          <pc:docMk/>
          <pc:sldMk cId="0" sldId="265"/>
        </pc:sldMkLst>
        <pc:spChg chg="mod">
          <ac:chgData name="𝐒𝐄𝐒𝐇𝐔 𝐂𝐇𝐎𝐖𝐃𝐀𝐑𝐘⚡" userId="a10a34972927bf5d" providerId="LiveId" clId="{B3DB9985-BEAF-4939-A3B8-BEBEB4A7E6CE}" dt="2026-02-20T04:54:23.344" v="85" actId="1076"/>
          <ac:spMkLst>
            <pc:docMk/>
            <pc:sldMk cId="0" sldId="265"/>
            <ac:spMk id="2" creationId="{00000000-0000-0000-0000-000000000000}"/>
          </ac:spMkLst>
        </pc:spChg>
        <pc:spChg chg="mod">
          <ac:chgData name="𝐒𝐄𝐒𝐇𝐔 𝐂𝐇𝐎𝐖𝐃𝐀𝐑𝐘⚡" userId="a10a34972927bf5d" providerId="LiveId" clId="{B3DB9985-BEAF-4939-A3B8-BEBEB4A7E6CE}" dt="2026-02-20T04:54:35.529" v="86" actId="1076"/>
          <ac:spMkLst>
            <pc:docMk/>
            <pc:sldMk cId="0" sldId="265"/>
            <ac:spMk id="3" creationId="{00000000-0000-0000-0000-000000000000}"/>
          </ac:spMkLst>
        </pc:spChg>
        <pc:picChg chg="add del mod">
          <ac:chgData name="𝐒𝐄𝐒𝐇𝐔 𝐂𝐇𝐎𝐖𝐃𝐀𝐑𝐘⚡" userId="a10a34972927bf5d" providerId="LiveId" clId="{B3DB9985-BEAF-4939-A3B8-BEBEB4A7E6CE}" dt="2026-02-20T04:47:25.785" v="13" actId="478"/>
          <ac:picMkLst>
            <pc:docMk/>
            <pc:sldMk cId="0" sldId="265"/>
            <ac:picMk id="5" creationId="{226368B7-FD15-30FB-06F4-360D14750F1E}"/>
          </ac:picMkLst>
        </pc:picChg>
        <pc:picChg chg="add del mod">
          <ac:chgData name="𝐒𝐄𝐒𝐇𝐔 𝐂𝐇𝐎𝐖𝐃𝐀𝐑𝐘⚡" userId="a10a34972927bf5d" providerId="LiveId" clId="{B3DB9985-BEAF-4939-A3B8-BEBEB4A7E6CE}" dt="2026-02-20T04:47:32.560" v="17" actId="478"/>
          <ac:picMkLst>
            <pc:docMk/>
            <pc:sldMk cId="0" sldId="265"/>
            <ac:picMk id="7" creationId="{85817ADC-19B9-2B9C-9D75-4642EBFAB81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5991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4121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795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6234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878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094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0232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8699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6046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506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2542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8687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5250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3575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457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1369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2/20/2026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94522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Smart Recycling Waste Classifier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42560-6F43-C5EA-AFD5-2F8A78B96EA8}"/>
              </a:ext>
            </a:extLst>
          </p:cNvPr>
          <p:cNvSpPr>
            <a:spLocks noGrp="1"/>
          </p:cNvSpPr>
          <p:nvPr>
            <p:ph type="title"/>
          </p:nvPr>
        </p:nvSpPr>
        <p:spPr>
          <a:xfrm>
            <a:off x="2579801" y="1724863"/>
            <a:ext cx="6347713" cy="1320800"/>
          </a:xfrm>
        </p:spPr>
        <p:txBody>
          <a:bodyPr/>
          <a:lstStyle/>
          <a:p>
            <a:r>
              <a:rPr lang="en-IN" dirty="0"/>
              <a:t>TEAM MEMBERS </a:t>
            </a:r>
          </a:p>
        </p:txBody>
      </p:sp>
      <p:sp>
        <p:nvSpPr>
          <p:cNvPr id="3" name="Content Placeholder 2">
            <a:extLst>
              <a:ext uri="{FF2B5EF4-FFF2-40B4-BE49-F238E27FC236}">
                <a16:creationId xmlns:a16="http://schemas.microsoft.com/office/drawing/2014/main" id="{EA49CC0A-211F-6BCD-7BC9-0CD1C6EF66F9}"/>
              </a:ext>
            </a:extLst>
          </p:cNvPr>
          <p:cNvSpPr>
            <a:spLocks noGrp="1"/>
          </p:cNvSpPr>
          <p:nvPr>
            <p:ph idx="1"/>
          </p:nvPr>
        </p:nvSpPr>
        <p:spPr>
          <a:xfrm>
            <a:off x="1250621" y="3045663"/>
            <a:ext cx="6347714" cy="2147458"/>
          </a:xfrm>
        </p:spPr>
        <p:txBody>
          <a:bodyPr>
            <a:normAutofit/>
          </a:bodyPr>
          <a:lstStyle/>
          <a:p>
            <a:r>
              <a:rPr lang="en-IN" sz="2000" dirty="0"/>
              <a:t>V.PARDHIV					-246Q5A4201</a:t>
            </a:r>
          </a:p>
          <a:p>
            <a:r>
              <a:rPr lang="en-IN" sz="2000" dirty="0"/>
              <a:t>P.VARSHINI					-236Q1A4202</a:t>
            </a:r>
          </a:p>
          <a:p>
            <a:r>
              <a:rPr lang="en-IN" sz="2000" dirty="0"/>
              <a:t>B.SRI VENKATA SESHA SAI		-236Q1A4209</a:t>
            </a:r>
          </a:p>
          <a:p>
            <a:r>
              <a:rPr lang="en-IN" sz="2000" dirty="0"/>
              <a:t>B.PRANAY KUMAR			-236Q1A4212</a:t>
            </a:r>
          </a:p>
          <a:p>
            <a:pPr marL="0" indent="0">
              <a:buNone/>
            </a:pPr>
            <a:r>
              <a:rPr lang="en-IN" dirty="0"/>
              <a:t> </a:t>
            </a:r>
          </a:p>
        </p:txBody>
      </p:sp>
    </p:spTree>
    <p:extLst>
      <p:ext uri="{BB962C8B-B14F-4D97-AF65-F5344CB8AC3E}">
        <p14:creationId xmlns:p14="http://schemas.microsoft.com/office/powerpoint/2010/main" val="2112993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Introduction</a:t>
            </a:r>
          </a:p>
        </p:txBody>
      </p:sp>
      <p:sp>
        <p:nvSpPr>
          <p:cNvPr id="3" name="Content Placeholder 2"/>
          <p:cNvSpPr>
            <a:spLocks noGrp="1"/>
          </p:cNvSpPr>
          <p:nvPr>
            <p:ph idx="1"/>
          </p:nvPr>
        </p:nvSpPr>
        <p:spPr>
          <a:xfrm>
            <a:off x="609599" y="1488613"/>
            <a:ext cx="6347714" cy="3880773"/>
          </a:xfrm>
        </p:spPr>
        <p:txBody>
          <a:bodyPr/>
          <a:lstStyle/>
          <a:p>
            <a:pPr marL="0" indent="0">
              <a:buNone/>
            </a:pPr>
            <a:r>
              <a:rPr dirty="0"/>
              <a:t> </a:t>
            </a:r>
            <a:r>
              <a:rPr sz="2000" dirty="0"/>
              <a:t>Classifies waste into 5 categories:</a:t>
            </a:r>
            <a:endParaRPr lang="en-IN" sz="2000" dirty="0"/>
          </a:p>
          <a:p>
            <a:pPr marL="0" indent="0">
              <a:buNone/>
            </a:pPr>
            <a:endParaRPr sz="2000" dirty="0"/>
          </a:p>
          <a:p>
            <a:r>
              <a:rPr sz="2000" dirty="0"/>
              <a:t>  - Plastic</a:t>
            </a:r>
          </a:p>
          <a:p>
            <a:r>
              <a:rPr sz="2000" dirty="0"/>
              <a:t>  - Paper</a:t>
            </a:r>
          </a:p>
          <a:p>
            <a:r>
              <a:rPr sz="2000" dirty="0"/>
              <a:t>  - Metal</a:t>
            </a:r>
          </a:p>
          <a:p>
            <a:r>
              <a:rPr sz="2000" dirty="0"/>
              <a:t>  - Glass</a:t>
            </a:r>
          </a:p>
          <a:p>
            <a:r>
              <a:rPr sz="2000" dirty="0"/>
              <a:t>  - Organic</a:t>
            </a:r>
          </a:p>
          <a:p>
            <a:pPr marL="0" indent="0">
              <a:buNone/>
            </a:pPr>
            <a:endParaRPr lang="en-IN" sz="2000" dirty="0"/>
          </a:p>
          <a:p>
            <a:pPr marL="0" indent="0">
              <a:buNone/>
            </a:pPr>
            <a:r>
              <a:rPr sz="2000" dirty="0"/>
              <a:t>Helps in smart recycling systems</a:t>
            </a:r>
          </a:p>
        </p:txBody>
      </p:sp>
      <p:pic>
        <p:nvPicPr>
          <p:cNvPr id="9" name="Picture 8">
            <a:extLst>
              <a:ext uri="{FF2B5EF4-FFF2-40B4-BE49-F238E27FC236}">
                <a16:creationId xmlns:a16="http://schemas.microsoft.com/office/drawing/2014/main" id="{DD1A67C9-6A68-9FD9-5B2A-ED53E005353E}"/>
              </a:ext>
            </a:extLst>
          </p:cNvPr>
          <p:cNvPicPr>
            <a:picLocks noChangeAspect="1"/>
          </p:cNvPicPr>
          <p:nvPr/>
        </p:nvPicPr>
        <p:blipFill>
          <a:blip r:embed="rId2"/>
          <a:stretch>
            <a:fillRect/>
          </a:stretch>
        </p:blipFill>
        <p:spPr>
          <a:xfrm>
            <a:off x="5343035" y="549533"/>
            <a:ext cx="3191366" cy="54082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9924" y="1270000"/>
            <a:ext cx="6347713" cy="1320800"/>
          </a:xfrm>
        </p:spPr>
        <p:txBody>
          <a:bodyPr/>
          <a:lstStyle/>
          <a:p>
            <a:r>
              <a:rPr dirty="0"/>
              <a:t>Required Software</a:t>
            </a:r>
          </a:p>
        </p:txBody>
      </p:sp>
      <p:sp>
        <p:nvSpPr>
          <p:cNvPr id="3" name="Content Placeholder 2"/>
          <p:cNvSpPr>
            <a:spLocks noGrp="1"/>
          </p:cNvSpPr>
          <p:nvPr>
            <p:ph idx="1"/>
          </p:nvPr>
        </p:nvSpPr>
        <p:spPr>
          <a:xfrm>
            <a:off x="2221582" y="2848747"/>
            <a:ext cx="4264059" cy="1864655"/>
          </a:xfrm>
        </p:spPr>
        <p:txBody>
          <a:bodyPr>
            <a:normAutofit/>
          </a:bodyPr>
          <a:lstStyle/>
          <a:p>
            <a:r>
              <a:rPr sz="2000" dirty="0"/>
              <a:t>• Python (3.10 or 3.11)</a:t>
            </a:r>
          </a:p>
          <a:p>
            <a:r>
              <a:rPr sz="2000" dirty="0"/>
              <a:t>• Visual Studio Code</a:t>
            </a:r>
          </a:p>
          <a:p>
            <a:r>
              <a:rPr sz="2000" dirty="0"/>
              <a:t>• Python Extension (VS Code)</a:t>
            </a:r>
          </a:p>
          <a:p>
            <a:r>
              <a:rPr sz="2000" dirty="0"/>
              <a:t>•</a:t>
            </a:r>
            <a:r>
              <a:rPr lang="en-IN" sz="2000" dirty="0"/>
              <a:t> Project code</a:t>
            </a:r>
          </a:p>
          <a:p>
            <a:endParaRPr lang="en-IN" sz="2000" dirty="0"/>
          </a:p>
          <a:p>
            <a:pPr>
              <a:buFont typeface="Arial" panose="020B0604020202020204" pitchFamily="34" charset="0"/>
              <a:buChar char="•"/>
            </a:pPr>
            <a:endParaRPr lang="en-IN" sz="2000" dirty="0"/>
          </a:p>
          <a:p>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1389" y="362041"/>
            <a:ext cx="6347713" cy="1320800"/>
          </a:xfrm>
        </p:spPr>
        <p:txBody>
          <a:bodyPr/>
          <a:lstStyle/>
          <a:p>
            <a:r>
              <a:rPr lang="en-IN" dirty="0"/>
              <a:t>Required Hardware</a:t>
            </a:r>
            <a:endParaRPr dirty="0"/>
          </a:p>
        </p:txBody>
      </p:sp>
      <p:sp>
        <p:nvSpPr>
          <p:cNvPr id="3" name="Content Placeholder 2"/>
          <p:cNvSpPr>
            <a:spLocks noGrp="1"/>
          </p:cNvSpPr>
          <p:nvPr>
            <p:ph idx="1"/>
          </p:nvPr>
        </p:nvSpPr>
        <p:spPr>
          <a:xfrm>
            <a:off x="1432543" y="1387133"/>
            <a:ext cx="6278914" cy="4702757"/>
          </a:xfrm>
        </p:spPr>
        <p:txBody>
          <a:bodyPr>
            <a:normAutofit fontScale="92500" lnSpcReduction="20000"/>
          </a:bodyPr>
          <a:lstStyle/>
          <a:p>
            <a:endParaRPr lang="en-IN" dirty="0"/>
          </a:p>
          <a:p>
            <a:r>
              <a:rPr lang="en-IN" sz="2200" dirty="0"/>
              <a:t>Camera</a:t>
            </a:r>
          </a:p>
          <a:p>
            <a:pPr marL="0" indent="0">
              <a:buNone/>
            </a:pPr>
            <a:endParaRPr lang="en-IN" sz="2200" dirty="0"/>
          </a:p>
          <a:p>
            <a:endParaRPr lang="en-IN" sz="2200" dirty="0"/>
          </a:p>
          <a:p>
            <a:endParaRPr lang="en-IN" sz="2200" dirty="0"/>
          </a:p>
          <a:p>
            <a:endParaRPr lang="en-IN" sz="2200" dirty="0"/>
          </a:p>
          <a:p>
            <a:r>
              <a:rPr lang="en-IN" sz="2200" dirty="0"/>
              <a:t>Arduino board </a:t>
            </a:r>
          </a:p>
          <a:p>
            <a:endParaRPr lang="en-IN" sz="2200" dirty="0"/>
          </a:p>
          <a:p>
            <a:endParaRPr lang="en-IN" sz="2200" dirty="0"/>
          </a:p>
          <a:p>
            <a:endParaRPr lang="en-IN" sz="2200" dirty="0"/>
          </a:p>
          <a:p>
            <a:endParaRPr lang="en-IN" sz="2200" dirty="0"/>
          </a:p>
          <a:p>
            <a:r>
              <a:rPr lang="en-IN" sz="2200" dirty="0"/>
              <a:t>Servo motor</a:t>
            </a:r>
          </a:p>
          <a:p>
            <a:pPr marL="0" indent="0">
              <a:buNone/>
            </a:pPr>
            <a:endParaRPr dirty="0"/>
          </a:p>
        </p:txBody>
      </p:sp>
      <p:pic>
        <p:nvPicPr>
          <p:cNvPr id="5" name="Picture 4">
            <a:extLst>
              <a:ext uri="{FF2B5EF4-FFF2-40B4-BE49-F238E27FC236}">
                <a16:creationId xmlns:a16="http://schemas.microsoft.com/office/drawing/2014/main" id="{AB16F1BE-962B-0588-19F2-2FED11BBE632}"/>
              </a:ext>
            </a:extLst>
          </p:cNvPr>
          <p:cNvPicPr>
            <a:picLocks noChangeAspect="1"/>
          </p:cNvPicPr>
          <p:nvPr/>
        </p:nvPicPr>
        <p:blipFill>
          <a:blip r:embed="rId2"/>
          <a:stretch>
            <a:fillRect/>
          </a:stretch>
        </p:blipFill>
        <p:spPr>
          <a:xfrm>
            <a:off x="4308048" y="4906031"/>
            <a:ext cx="1702945" cy="1275565"/>
          </a:xfrm>
          <a:prstGeom prst="rect">
            <a:avLst/>
          </a:prstGeom>
        </p:spPr>
      </p:pic>
      <p:pic>
        <p:nvPicPr>
          <p:cNvPr id="7" name="Picture 6">
            <a:extLst>
              <a:ext uri="{FF2B5EF4-FFF2-40B4-BE49-F238E27FC236}">
                <a16:creationId xmlns:a16="http://schemas.microsoft.com/office/drawing/2014/main" id="{293AC5FB-438F-287A-5932-98879E4FB0D5}"/>
              </a:ext>
            </a:extLst>
          </p:cNvPr>
          <p:cNvPicPr>
            <a:picLocks noChangeAspect="1"/>
          </p:cNvPicPr>
          <p:nvPr/>
        </p:nvPicPr>
        <p:blipFill>
          <a:blip r:embed="rId3"/>
          <a:stretch>
            <a:fillRect/>
          </a:stretch>
        </p:blipFill>
        <p:spPr>
          <a:xfrm>
            <a:off x="4308048" y="2989081"/>
            <a:ext cx="1998483" cy="1498862"/>
          </a:xfrm>
          <a:prstGeom prst="rect">
            <a:avLst/>
          </a:prstGeom>
        </p:spPr>
      </p:pic>
      <p:pic>
        <p:nvPicPr>
          <p:cNvPr id="9" name="Picture 8">
            <a:extLst>
              <a:ext uri="{FF2B5EF4-FFF2-40B4-BE49-F238E27FC236}">
                <a16:creationId xmlns:a16="http://schemas.microsoft.com/office/drawing/2014/main" id="{884CE32A-6CBC-14C2-6BAB-AF40AE81EF9B}"/>
              </a:ext>
            </a:extLst>
          </p:cNvPr>
          <p:cNvPicPr>
            <a:picLocks noChangeAspect="1"/>
          </p:cNvPicPr>
          <p:nvPr/>
        </p:nvPicPr>
        <p:blipFill>
          <a:blip r:embed="rId4"/>
          <a:stretch>
            <a:fillRect/>
          </a:stretch>
        </p:blipFill>
        <p:spPr>
          <a:xfrm>
            <a:off x="4308048" y="1211164"/>
            <a:ext cx="2118785" cy="14099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887" y="609600"/>
            <a:ext cx="6347713" cy="1320800"/>
          </a:xfrm>
        </p:spPr>
        <p:txBody>
          <a:bodyPr/>
          <a:lstStyle/>
          <a:p>
            <a:r>
              <a:rPr lang="en-IN" dirty="0"/>
              <a:t>WORKING MODEL</a:t>
            </a:r>
            <a:br>
              <a:rPr lang="en-IN" dirty="0"/>
            </a:br>
            <a:endParaRPr dirty="0"/>
          </a:p>
        </p:txBody>
      </p:sp>
      <p:sp>
        <p:nvSpPr>
          <p:cNvPr id="3" name="Content Placeholder 2"/>
          <p:cNvSpPr>
            <a:spLocks noGrp="1"/>
          </p:cNvSpPr>
          <p:nvPr>
            <p:ph idx="1"/>
          </p:nvPr>
        </p:nvSpPr>
        <p:spPr>
          <a:xfrm>
            <a:off x="1684255" y="1930400"/>
            <a:ext cx="6347714" cy="3880773"/>
          </a:xfrm>
        </p:spPr>
        <p:txBody>
          <a:bodyPr>
            <a:normAutofit/>
          </a:bodyPr>
          <a:lstStyle/>
          <a:p>
            <a:r>
              <a:rPr lang="en-IN" sz="2000" dirty="0"/>
              <a:t>Image collection</a:t>
            </a:r>
          </a:p>
          <a:p>
            <a:r>
              <a:rPr lang="en-IN" sz="2000" dirty="0"/>
              <a:t>Image preprocessing </a:t>
            </a:r>
          </a:p>
          <a:p>
            <a:r>
              <a:rPr lang="en-IN" sz="2000" dirty="0"/>
              <a:t>Feature extraction using CNN</a:t>
            </a:r>
          </a:p>
          <a:p>
            <a:r>
              <a:rPr lang="en-IN" sz="2000" dirty="0"/>
              <a:t>Model training</a:t>
            </a:r>
          </a:p>
          <a:p>
            <a:r>
              <a:rPr lang="en-IN" sz="2000" dirty="0"/>
              <a:t>Prediction phase</a:t>
            </a:r>
          </a:p>
          <a:p>
            <a:r>
              <a:rPr lang="en-IN" sz="2000" dirty="0"/>
              <a:t>Final work flow</a:t>
            </a:r>
          </a:p>
          <a:p>
            <a:pPr marL="0" indent="0">
              <a:buNone/>
            </a:pP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962" y="694441"/>
            <a:ext cx="6347713" cy="1320800"/>
          </a:xfrm>
        </p:spPr>
        <p:txBody>
          <a:bodyPr/>
          <a:lstStyle/>
          <a:p>
            <a:r>
              <a:rPr lang="en-IN" dirty="0"/>
              <a:t>IMAGE COLLECTION</a:t>
            </a:r>
            <a:endParaRPr dirty="0"/>
          </a:p>
        </p:txBody>
      </p:sp>
      <p:sp>
        <p:nvSpPr>
          <p:cNvPr id="3" name="Content Placeholder 2"/>
          <p:cNvSpPr>
            <a:spLocks noGrp="1"/>
          </p:cNvSpPr>
          <p:nvPr>
            <p:ph idx="1"/>
          </p:nvPr>
        </p:nvSpPr>
        <p:spPr>
          <a:xfrm>
            <a:off x="1721962" y="2015241"/>
            <a:ext cx="6347714" cy="3880773"/>
          </a:xfrm>
        </p:spPr>
        <p:txBody>
          <a:bodyPr>
            <a:normAutofit/>
          </a:bodyPr>
          <a:lstStyle/>
          <a:p>
            <a:pPr marL="0" indent="0">
              <a:buNone/>
            </a:pPr>
            <a:r>
              <a:rPr sz="2000" dirty="0"/>
              <a:t>Inside dataset create 5 folders:</a:t>
            </a:r>
          </a:p>
          <a:p>
            <a:r>
              <a:rPr sz="2000" dirty="0"/>
              <a:t>• plastic</a:t>
            </a:r>
          </a:p>
          <a:p>
            <a:r>
              <a:rPr sz="2000" dirty="0"/>
              <a:t>• paper</a:t>
            </a:r>
          </a:p>
          <a:p>
            <a:r>
              <a:rPr sz="2000" dirty="0"/>
              <a:t>• metal</a:t>
            </a:r>
          </a:p>
          <a:p>
            <a:r>
              <a:rPr sz="2000" dirty="0"/>
              <a:t>• glass</a:t>
            </a:r>
          </a:p>
          <a:p>
            <a:r>
              <a:rPr sz="2000" dirty="0"/>
              <a:t>• organic</a:t>
            </a:r>
          </a:p>
          <a:p>
            <a:endParaRPr sz="2000" dirty="0"/>
          </a:p>
          <a:p>
            <a:r>
              <a:rPr sz="2000" dirty="0"/>
              <a:t>Add 50-100 images in each folder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9476" y="713295"/>
            <a:ext cx="6347713" cy="1320800"/>
          </a:xfrm>
        </p:spPr>
        <p:txBody>
          <a:bodyPr/>
          <a:lstStyle/>
          <a:p>
            <a:r>
              <a:rPr lang="en-IN" dirty="0"/>
              <a:t>IMAGE  PREPROCESING</a:t>
            </a:r>
            <a:endParaRPr dirty="0"/>
          </a:p>
        </p:txBody>
      </p:sp>
      <p:sp>
        <p:nvSpPr>
          <p:cNvPr id="3" name="Content Placeholder 2"/>
          <p:cNvSpPr>
            <a:spLocks noGrp="1"/>
          </p:cNvSpPr>
          <p:nvPr>
            <p:ph idx="1"/>
          </p:nvPr>
        </p:nvSpPr>
        <p:spPr>
          <a:xfrm>
            <a:off x="807562" y="1877786"/>
            <a:ext cx="6347714" cy="3382371"/>
          </a:xfrm>
        </p:spPr>
        <p:txBody>
          <a:bodyPr>
            <a:normAutofit/>
          </a:bodyPr>
          <a:lstStyle/>
          <a:p>
            <a:r>
              <a:rPr lang="en-US" sz="2000" dirty="0"/>
              <a:t>Before training, images are:</a:t>
            </a:r>
          </a:p>
          <a:p>
            <a:r>
              <a:rPr lang="en-US" sz="2000" dirty="0"/>
              <a:t>Resized to 128 × 128 pixels</a:t>
            </a:r>
          </a:p>
          <a:p>
            <a:r>
              <a:rPr lang="en-US" sz="2000" dirty="0"/>
              <a:t>Converted into numerical values</a:t>
            </a:r>
          </a:p>
          <a:p>
            <a:r>
              <a:rPr lang="en-US" sz="2000" dirty="0"/>
              <a:t>Normalized (pixel values divided by 255)This makes the images ready for the neural network</a:t>
            </a: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 extraction using CNN</a:t>
            </a:r>
            <a:endParaRPr dirty="0"/>
          </a:p>
        </p:txBody>
      </p:sp>
      <p:sp>
        <p:nvSpPr>
          <p:cNvPr id="3" name="Content Placeholder 2"/>
          <p:cNvSpPr>
            <a:spLocks noGrp="1"/>
          </p:cNvSpPr>
          <p:nvPr>
            <p:ph idx="1"/>
          </p:nvPr>
        </p:nvSpPr>
        <p:spPr>
          <a:xfrm>
            <a:off x="967818" y="1930400"/>
            <a:ext cx="6347714" cy="3880773"/>
          </a:xfrm>
        </p:spPr>
        <p:txBody>
          <a:bodyPr>
            <a:noAutofit/>
          </a:bodyPr>
          <a:lstStyle/>
          <a:p>
            <a:pPr marL="0" indent="0">
              <a:buNone/>
            </a:pPr>
            <a:r>
              <a:rPr lang="en-IN" sz="2000" dirty="0"/>
              <a:t>The system uses a Convolutional Neural Network (CNN).CNN works in 3 main stages:</a:t>
            </a:r>
          </a:p>
          <a:p>
            <a:pPr marL="0" indent="0">
              <a:buNone/>
            </a:pPr>
            <a:endParaRPr lang="en-IN" sz="2000" dirty="0"/>
          </a:p>
          <a:p>
            <a:r>
              <a:rPr lang="en-IN" sz="2000" dirty="0"/>
              <a:t>Convolution Layer :- Detects edges, shapes, textures, Extracts important patterns from images.</a:t>
            </a:r>
          </a:p>
          <a:p>
            <a:r>
              <a:rPr lang="en-IN" sz="2000" dirty="0"/>
              <a:t> Pooling Layer :- Reduces image size, Keeps important features, Makes system faster and efficient.</a:t>
            </a:r>
          </a:p>
          <a:p>
            <a:r>
              <a:rPr lang="en-IN" sz="2000" dirty="0"/>
              <a:t> Fully Connected Layer :- Combines all extracted features, Decides which waste category it belongs to.</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0498" y="644165"/>
            <a:ext cx="6347713" cy="1320800"/>
          </a:xfrm>
        </p:spPr>
        <p:txBody>
          <a:bodyPr/>
          <a:lstStyle/>
          <a:p>
            <a:r>
              <a:rPr lang="en-IN" dirty="0"/>
              <a:t>MODEL  TRAINING </a:t>
            </a:r>
            <a:endParaRPr dirty="0"/>
          </a:p>
        </p:txBody>
      </p:sp>
      <p:sp>
        <p:nvSpPr>
          <p:cNvPr id="3" name="Content Placeholder 2"/>
          <p:cNvSpPr>
            <a:spLocks noGrp="1"/>
          </p:cNvSpPr>
          <p:nvPr>
            <p:ph idx="1"/>
          </p:nvPr>
        </p:nvSpPr>
        <p:spPr>
          <a:xfrm>
            <a:off x="1241194" y="1849505"/>
            <a:ext cx="6347714" cy="3880773"/>
          </a:xfrm>
        </p:spPr>
        <p:txBody>
          <a:bodyPr>
            <a:normAutofit/>
          </a:bodyPr>
          <a:lstStyle/>
          <a:p>
            <a:pPr marL="0" indent="0">
              <a:buNone/>
            </a:pPr>
            <a:r>
              <a:rPr lang="en-US" sz="2000" dirty="0"/>
              <a:t>During training:-</a:t>
            </a:r>
          </a:p>
          <a:p>
            <a:pPr marL="0" indent="0">
              <a:buNone/>
            </a:pPr>
            <a:endParaRPr lang="en-US" sz="2000" dirty="0"/>
          </a:p>
          <a:p>
            <a:r>
              <a:rPr lang="en-US" sz="2000" dirty="0"/>
              <a:t>The model sees thousands of images.</a:t>
            </a:r>
          </a:p>
          <a:p>
            <a:r>
              <a:rPr lang="en-US" sz="2000" dirty="0"/>
              <a:t>It compares predicted output with actual category.</a:t>
            </a:r>
          </a:p>
          <a:p>
            <a:r>
              <a:rPr lang="en-US" sz="2000" dirty="0"/>
              <a:t>If prediction is wrong → error is calculated.</a:t>
            </a:r>
          </a:p>
          <a:p>
            <a:r>
              <a:rPr lang="en-US" sz="2000" dirty="0"/>
              <a:t>The model adjusts its internal weights.</a:t>
            </a:r>
          </a:p>
          <a:p>
            <a:r>
              <a:rPr lang="en-US" sz="2000" dirty="0"/>
              <a:t>This process repeats for multiple epochs.</a:t>
            </a:r>
            <a:endParaRPr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062FA-CC21-8665-65E7-E20A50608A9D}"/>
              </a:ext>
            </a:extLst>
          </p:cNvPr>
          <p:cNvSpPr>
            <a:spLocks noGrp="1"/>
          </p:cNvSpPr>
          <p:nvPr>
            <p:ph type="title"/>
          </p:nvPr>
        </p:nvSpPr>
        <p:spPr>
          <a:xfrm>
            <a:off x="1552279" y="609600"/>
            <a:ext cx="6347713" cy="1320800"/>
          </a:xfrm>
        </p:spPr>
        <p:txBody>
          <a:bodyPr/>
          <a:lstStyle/>
          <a:p>
            <a:r>
              <a:rPr lang="en-IN" dirty="0"/>
              <a:t>PREDICTION  PHASE</a:t>
            </a:r>
          </a:p>
        </p:txBody>
      </p:sp>
      <p:sp>
        <p:nvSpPr>
          <p:cNvPr id="3" name="Content Placeholder 2">
            <a:extLst>
              <a:ext uri="{FF2B5EF4-FFF2-40B4-BE49-F238E27FC236}">
                <a16:creationId xmlns:a16="http://schemas.microsoft.com/office/drawing/2014/main" id="{E2C318EA-9D9A-E758-CB12-E7A04D4703EB}"/>
              </a:ext>
            </a:extLst>
          </p:cNvPr>
          <p:cNvSpPr>
            <a:spLocks noGrp="1"/>
          </p:cNvSpPr>
          <p:nvPr>
            <p:ph idx="1"/>
          </p:nvPr>
        </p:nvSpPr>
        <p:spPr>
          <a:xfrm>
            <a:off x="1033805" y="1811799"/>
            <a:ext cx="6347714" cy="3880773"/>
          </a:xfrm>
        </p:spPr>
        <p:txBody>
          <a:bodyPr>
            <a:normAutofit/>
          </a:bodyPr>
          <a:lstStyle/>
          <a:p>
            <a:pPr marL="0" indent="0">
              <a:buNone/>
            </a:pPr>
            <a:r>
              <a:rPr lang="en-US" sz="2000" dirty="0"/>
              <a:t>When a new waste image is given:</a:t>
            </a:r>
          </a:p>
          <a:p>
            <a:pPr marL="0" indent="0">
              <a:buNone/>
            </a:pPr>
            <a:endParaRPr lang="en-US" sz="2000" dirty="0"/>
          </a:p>
          <a:p>
            <a:r>
              <a:rPr lang="en-US" sz="2000" dirty="0"/>
              <a:t>Image is resized and normalized.</a:t>
            </a:r>
          </a:p>
          <a:p>
            <a:r>
              <a:rPr lang="en-US" sz="2000" dirty="0"/>
              <a:t>Passed into trained CNN model.</a:t>
            </a:r>
          </a:p>
          <a:p>
            <a:r>
              <a:rPr lang="en-US" sz="2000" dirty="0"/>
              <a:t>Model calculates probability for each class.</a:t>
            </a:r>
          </a:p>
          <a:p>
            <a:r>
              <a:rPr lang="en-US" sz="2000" dirty="0"/>
              <a:t>Highest probability class is selected.</a:t>
            </a:r>
          </a:p>
          <a:p>
            <a:r>
              <a:rPr lang="en-US" sz="2000" dirty="0"/>
              <a:t>Output is displayed.</a:t>
            </a:r>
            <a:endParaRPr lang="en-IN" sz="2000" dirty="0"/>
          </a:p>
        </p:txBody>
      </p:sp>
    </p:spTree>
    <p:extLst>
      <p:ext uri="{BB962C8B-B14F-4D97-AF65-F5344CB8AC3E}">
        <p14:creationId xmlns:p14="http://schemas.microsoft.com/office/powerpoint/2010/main" val="310624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5251" y="106136"/>
            <a:ext cx="6347713" cy="1320800"/>
          </a:xfrm>
        </p:spPr>
        <p:txBody>
          <a:bodyPr/>
          <a:lstStyle/>
          <a:p>
            <a:r>
              <a:rPr lang="en-IN" dirty="0"/>
              <a:t>FINAL  WORK  FLOW</a:t>
            </a:r>
            <a:endParaRPr dirty="0"/>
          </a:p>
        </p:txBody>
      </p:sp>
      <p:sp>
        <p:nvSpPr>
          <p:cNvPr id="3" name="Content Placeholder 2"/>
          <p:cNvSpPr>
            <a:spLocks noGrp="1"/>
          </p:cNvSpPr>
          <p:nvPr>
            <p:ph idx="1"/>
          </p:nvPr>
        </p:nvSpPr>
        <p:spPr>
          <a:xfrm>
            <a:off x="538597" y="766536"/>
            <a:ext cx="7564367" cy="5241630"/>
          </a:xfrm>
        </p:spPr>
        <p:txBody>
          <a:bodyPr>
            <a:noAutofit/>
          </a:bodyPr>
          <a:lstStyle/>
          <a:p>
            <a:r>
              <a:rPr lang="en-IN" sz="2000" dirty="0"/>
              <a:t>Camera → Capture Waste Image</a:t>
            </a:r>
          </a:p>
          <a:p>
            <a:pPr marL="0" indent="0">
              <a:buNone/>
            </a:pPr>
            <a:r>
              <a:rPr lang="en-IN" sz="2000" dirty="0"/>
              <a:t>       </a:t>
            </a:r>
            <a:r>
              <a:rPr lang="en-IN" sz="1400" dirty="0"/>
              <a:t>(</a:t>
            </a:r>
            <a:r>
              <a:rPr lang="en-US" sz="1400" dirty="0"/>
              <a:t>When someone puts waste near the bin, the camera takes a picture)</a:t>
            </a:r>
            <a:endParaRPr lang="en-IN" sz="1400" dirty="0"/>
          </a:p>
          <a:p>
            <a:pPr marL="0" indent="0">
              <a:buNone/>
            </a:pPr>
            <a:r>
              <a:rPr lang="en-IN" sz="2000" dirty="0"/>
              <a:t>			⬇</a:t>
            </a:r>
          </a:p>
          <a:p>
            <a:r>
              <a:rPr lang="en-IN" sz="2000" dirty="0"/>
              <a:t>Python AI Model → Classifies Waste</a:t>
            </a:r>
          </a:p>
          <a:p>
            <a:pPr marL="0" indent="0">
              <a:buNone/>
            </a:pPr>
            <a:r>
              <a:rPr lang="en-IN" sz="2000" dirty="0"/>
              <a:t>     </a:t>
            </a:r>
            <a:r>
              <a:rPr lang="en-IN" sz="1400" dirty="0"/>
              <a:t>(Y</a:t>
            </a:r>
            <a:r>
              <a:rPr lang="en-US" sz="1400" dirty="0"/>
              <a:t>our trained AI model (CNN) checks the image and decides whether it is in</a:t>
            </a:r>
          </a:p>
          <a:p>
            <a:pPr marL="0" indent="0">
              <a:buNone/>
            </a:pPr>
            <a:r>
              <a:rPr lang="en-US" sz="1400" dirty="0"/>
              <a:t> a category.)</a:t>
            </a:r>
            <a:endParaRPr lang="en-IN" sz="1400" dirty="0"/>
          </a:p>
          <a:p>
            <a:pPr marL="0" indent="0">
              <a:buNone/>
            </a:pPr>
            <a:r>
              <a:rPr lang="en-IN" sz="2000" dirty="0"/>
              <a:t>			⬇</a:t>
            </a:r>
          </a:p>
          <a:p>
            <a:r>
              <a:rPr lang="en-IN" sz="2000" dirty="0"/>
              <a:t>Signal sent to Arduino</a:t>
            </a:r>
          </a:p>
          <a:p>
            <a:pPr marL="0" indent="0">
              <a:buNone/>
            </a:pPr>
            <a:r>
              <a:rPr lang="en-US" sz="2000" dirty="0"/>
              <a:t>     </a:t>
            </a:r>
            <a:r>
              <a:rPr lang="en-US" sz="1400" dirty="0"/>
              <a:t>(After classification, the Python program sends a signal to the Arduino board.)</a:t>
            </a:r>
            <a:endParaRPr lang="en-IN" sz="1400" dirty="0"/>
          </a:p>
          <a:p>
            <a:pPr marL="0" indent="0">
              <a:buNone/>
            </a:pPr>
            <a:r>
              <a:rPr lang="en-IN" sz="2000" dirty="0"/>
              <a:t>			⬇</a:t>
            </a:r>
          </a:p>
          <a:p>
            <a:r>
              <a:rPr lang="en-IN" sz="2000" dirty="0"/>
              <a:t>Servo motor rotates correct bin </a:t>
            </a:r>
          </a:p>
          <a:p>
            <a:pPr marL="0" indent="0">
              <a:buNone/>
            </a:pPr>
            <a:r>
              <a:rPr lang="en-IN" sz="2000" dirty="0"/>
              <a:t>     </a:t>
            </a:r>
            <a:r>
              <a:rPr lang="en-IN" sz="1400" dirty="0"/>
              <a:t>(T</a:t>
            </a:r>
            <a:r>
              <a:rPr lang="en-US" sz="1400" dirty="0"/>
              <a:t>he Arduino controls a servo motor, which rotates and opens the correct waste bin)</a:t>
            </a:r>
            <a:endParaRPr lang="en-IN" sz="1400" dirty="0"/>
          </a:p>
          <a:p>
            <a:pPr marL="0" indent="0">
              <a:buNone/>
            </a:pPr>
            <a:endParaRPr lang="en-IN" sz="2000" dirty="0"/>
          </a:p>
          <a:p>
            <a:pPr marL="0" indent="0">
              <a:buNone/>
            </a:pPr>
            <a:r>
              <a:rPr lang="en-IN" sz="2000" dirty="0"/>
              <a:t>This creates a Smart Automatic Waste Segregation System.</a:t>
            </a:r>
            <a:endParaRP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353F-E57B-DFFA-40E6-03F2A811B4F7}"/>
              </a:ext>
            </a:extLst>
          </p:cNvPr>
          <p:cNvSpPr>
            <a:spLocks noGrp="1"/>
          </p:cNvSpPr>
          <p:nvPr>
            <p:ph type="title"/>
          </p:nvPr>
        </p:nvSpPr>
        <p:spPr>
          <a:xfrm>
            <a:off x="2796287" y="1495719"/>
            <a:ext cx="6347713" cy="1320800"/>
          </a:xfrm>
        </p:spPr>
        <p:txBody>
          <a:bodyPr/>
          <a:lstStyle/>
          <a:p>
            <a:r>
              <a:rPr lang="en-IN" dirty="0"/>
              <a:t>CONCLUSION</a:t>
            </a:r>
          </a:p>
        </p:txBody>
      </p:sp>
      <p:sp>
        <p:nvSpPr>
          <p:cNvPr id="3" name="Content Placeholder 2">
            <a:extLst>
              <a:ext uri="{FF2B5EF4-FFF2-40B4-BE49-F238E27FC236}">
                <a16:creationId xmlns:a16="http://schemas.microsoft.com/office/drawing/2014/main" id="{9747F0C0-782B-BEEB-6587-0FFE7B46C0E9}"/>
              </a:ext>
            </a:extLst>
          </p:cNvPr>
          <p:cNvSpPr>
            <a:spLocks noGrp="1"/>
          </p:cNvSpPr>
          <p:nvPr>
            <p:ph idx="1"/>
          </p:nvPr>
        </p:nvSpPr>
        <p:spPr>
          <a:xfrm>
            <a:off x="600172" y="2603297"/>
            <a:ext cx="7063820" cy="3880773"/>
          </a:xfrm>
        </p:spPr>
        <p:txBody>
          <a:bodyPr>
            <a:normAutofit/>
          </a:bodyPr>
          <a:lstStyle/>
          <a:p>
            <a:r>
              <a:rPr lang="en-US" sz="2000" dirty="0"/>
              <a:t>The Smart Recycling Waste Classifier uses Artificial Intelligence and CNN technology to automatically identify and classify different types of waste. This system helps improve recycling efficiency, reduces human effort, and supports environmental sustainability. With future integration of hardware like Arduino and smart bins, it can become a fully automated waste segregation solution for smart cities.</a:t>
            </a:r>
            <a:endParaRPr lang="en-IN" sz="2000" dirty="0"/>
          </a:p>
        </p:txBody>
      </p:sp>
    </p:spTree>
    <p:extLst>
      <p:ext uri="{BB962C8B-B14F-4D97-AF65-F5344CB8AC3E}">
        <p14:creationId xmlns:p14="http://schemas.microsoft.com/office/powerpoint/2010/main" val="132522944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117</TotalTime>
  <Words>517</Words>
  <Application>Microsoft Office PowerPoint</Application>
  <PresentationFormat>On-screen Show (4:3)</PresentationFormat>
  <Paragraphs>96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 3</vt:lpstr>
      <vt:lpstr>Facet</vt:lpstr>
      <vt:lpstr>Smart Recycling Waste Classifier</vt:lpstr>
      <vt:lpstr>TEAM MEMBERS </vt:lpstr>
      <vt:lpstr>Project Introduction</vt:lpstr>
      <vt:lpstr>Required Software</vt:lpstr>
      <vt:lpstr>Required Hardware</vt:lpstr>
      <vt:lpstr>WORKING MODEL </vt:lpstr>
      <vt:lpstr>IMAGE COLLECTION</vt:lpstr>
      <vt:lpstr>IMAGE  PREPROCESING</vt:lpstr>
      <vt:lpstr>Feature extraction using CNN</vt:lpstr>
      <vt:lpstr>MODEL  TRAINING </vt:lpstr>
      <vt:lpstr>PREDICTION  PHASE</vt:lpstr>
      <vt:lpstr>FINAL  WORK  FLOW</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𝐒𝐄𝐒𝐇𝐔 𝐂𝐇𝐎𝐖𝐃𝐀𝐑𝐘⚡</cp:lastModifiedBy>
  <cp:revision>1</cp:revision>
  <dcterms:created xsi:type="dcterms:W3CDTF">2013-01-27T09:14:16Z</dcterms:created>
  <dcterms:modified xsi:type="dcterms:W3CDTF">2026-02-20T04:54:46Z</dcterms:modified>
  <cp:category/>
</cp:coreProperties>
</file>